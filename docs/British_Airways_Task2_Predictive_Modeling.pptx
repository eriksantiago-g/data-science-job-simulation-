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BRITISH AIRWAYS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A96E"/>
                </a:solidFill>
                <a:latin typeface="Calibri"/>
              </a:defRPr>
            </a:pPr>
            <a:r>
              <a:t>Task 2: Predictive Modeling - Customer Booking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Programa de Simulacion de Data Science | Forage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Metodologia: CRISP-ML (Cross-Industry Standard Process for Machine Learning)</a:t>
            </a:r>
          </a:p>
          <a:p>
            <a:pPr>
              <a:spcAft>
                <a:spcPts val="8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Problema: Clasificacion binaria para predecir reservas completadas</a:t>
            </a:r>
          </a:p>
          <a:p>
            <a:pPr>
              <a:spcAft>
                <a:spcPts val="8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Dataset: 50,000 registros | 14 variables | 15% tasa de completado</a:t>
            </a:r>
          </a:p>
          <a:p>
            <a:pPr>
              <a:spcAft>
                <a:spcPts val="8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Modelos: Logistic Regression, Random Forest, Gradient Boosting + SMOTE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Desarrollado por: Feibert Guzman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Fase 1: Business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1E41"/>
                </a:solidFill>
                <a:latin typeface="Calibri"/>
              </a:defRPr>
            </a:pPr>
            <a:r>
              <a:t>Objetivo del Negocio y del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1E41"/>
                </a:solidFill>
                <a:latin typeface="Calibri"/>
              </a:defRPr>
            </a:pPr>
            <a:r>
              <a:t>Objetivo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British Airways quiere entender que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factores influyen en la decision de los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clientes de completar una reserva.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Identificar patrones de comportamiento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para optimizar estrategias de marketing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y mejorar la experiencia de usuario.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Reducir la tasa de abandono en el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proceso de reserva online.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6E"/>
                </a:solidFill>
                <a:latin typeface="Calibri"/>
              </a:defRPr>
            </a:pPr>
            <a:r>
              <a:t>Objetivo de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Construir un modelo de clasificacion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binaria para predecir si un cliente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completara la reserva.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Variable objetivo: booking_complete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1 = Completo  |  0 = No completo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Metricas de exito: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AUC-ROC, F1-Score, Precision,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CRISP-ML Fase 1/6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Fase 2: Data Understanding - 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31837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Registros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3183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56032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31837"/>
                </a:solidFill>
                <a:latin typeface="Calibri"/>
              </a:defRPr>
            </a:pPr>
            <a:r>
              <a:t>14.96%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Tasa Completado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560320" cy="10972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31837"/>
                </a:solidFill>
                <a:latin typeface="Calibri"/>
              </a:defRPr>
            </a:pPr>
            <a:r>
              <a:t>5.69x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Desbalanceo</a:t>
            </a:r>
          </a:p>
        </p:txBody>
      </p:sp>
      <p:pic>
        <p:nvPicPr>
          <p:cNvPr id="17" name="Picture 16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303520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Distribucion de Variable Objetivo</a:t>
            </a:r>
          </a:p>
        </p:txBody>
      </p:sp>
      <p:pic>
        <p:nvPicPr>
          <p:cNvPr id="19" name="Picture 18" descr="categorical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0"/>
            <a:ext cx="5303520" cy="164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Variables Categoricas vs Target</a:t>
            </a:r>
          </a:p>
        </p:txBody>
      </p:sp>
      <p:pic>
        <p:nvPicPr>
          <p:cNvPr id="21" name="Picture 20" descr="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63440"/>
            <a:ext cx="5303520" cy="1645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63550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Matriz de Correlacion</a:t>
            </a:r>
          </a:p>
        </p:txBody>
      </p:sp>
      <p:pic>
        <p:nvPicPr>
          <p:cNvPr id="23" name="Picture 22" descr="services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663440"/>
            <a:ext cx="5303520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63550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Analisis de Servicios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CRISP-ML Fase 2/6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Fase 3: Data Preparation - Pipeline ETL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4864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 1. EXTRACCION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Lectura de customer_booking.csv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Codificacion ISO-8859-1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Validacion de tipos de datos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50,000 registros cargados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486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 2. TRANSFORMACION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One-hot encoding categorico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Binning (purchase_lead, stay)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Feature engineering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Manejo de outliers (clipping)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36 features generadas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486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 3. CARGA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031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processed_booking_data.csv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encoded_booking_data.csv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Datos listos para modelado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Train-Test split (80/20)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CRISP-ML Fase 3/6  |  etl_pipeline.py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Fase 4: Modeling - 3 Modelos Entrenados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20116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Logistic Regression</a:t>
            </a:r>
            <a:br/>
            <a:r>
              <a:t>+ SMOTE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A96E"/>
                </a:solidFill>
                <a:latin typeface="Calibri"/>
              </a:defRPr>
            </a:pPr>
            <a:r>
              <a:t>Modelo Lineal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Accuracy: 0.725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AUC-ROC: 0.710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Benchmark basico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201168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54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  <a:br/>
            <a:r>
              <a:t>+ SMOTE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A96E"/>
                </a:solidFill>
                <a:latin typeface="Calibri"/>
              </a:defRPr>
            </a:pPr>
            <a:r>
              <a:t>MEJOR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Accuracy: 0.802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AUC-ROC: 0.785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Feature importance nativa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474720" cy="201168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54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Gradient Boosting</a:t>
            </a:r>
            <a:br/>
            <a:r>
              <a:t>+ SMOTE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A96E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Accuracy: 0.785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AUC-ROC: 0.762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Arboles secuenciales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CRISP-ML Fase 4/6  |  SMOTE usado para balanceo de clases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Fase 5: Evaluation - Resultados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01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1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1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1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11E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11E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Logistic Regression + SMOTE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31837"/>
                          </a:solidFill>
                          <a:latin typeface="Calibri"/>
                        </a:defRPr>
                      </a:pPr>
                      <a:r>
                        <a:t>Random Forest + SMOTE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31837"/>
                          </a:solidFill>
                          <a:latin typeface="Calibri"/>
                        </a:defRPr>
                      </a:pPr>
                      <a:r>
                        <a:t>0.802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31837"/>
                          </a:solidFill>
                          <a:latin typeface="Calibri"/>
                        </a:defRPr>
                      </a:pPr>
                      <a:r>
                        <a:t>0.420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31837"/>
                          </a:solidFill>
                          <a:latin typeface="Calibri"/>
                        </a:defRPr>
                      </a:pPr>
                      <a:r>
                        <a:t>0.520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31837"/>
                          </a:solidFill>
                          <a:latin typeface="Calibri"/>
                        </a:defRPr>
                      </a:pPr>
                      <a:r>
                        <a:t>0.465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31837"/>
                          </a:solidFill>
                          <a:latin typeface="Calibri"/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Gradient Boosting + SMOTE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5303520" cy="2926080"/>
          </a:xfrm>
          <a:prstGeom prst="rect">
            <a:avLst/>
          </a:prstGeom>
        </p:spPr>
      </p:pic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74720"/>
            <a:ext cx="530352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CRISP-ML Fase 5/6  |  Mejor modelo: Random Forest + SMOTE (AUC-ROC = 0.785)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Fase 6: Deployment &amp; 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1E41"/>
                </a:solidFill>
                <a:latin typeface="Calibri"/>
              </a:defRPr>
            </a:pPr>
            <a:r>
              <a:t>Top 5 Features mas Importantes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54864" cy="6400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1E41"/>
                </a:solidFill>
                <a:latin typeface="Calibri"/>
              </a:defRPr>
            </a:pPr>
            <a:r>
              <a:t>1. purchase_lead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1837"/>
                </a:solidFill>
                <a:latin typeface="Calibri"/>
              </a:defRPr>
            </a:pPr>
            <a:r>
              <a:t>18.2%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Tiempo entre compra y viaje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17520"/>
            <a:ext cx="54864" cy="6400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1E41"/>
                </a:solidFill>
                <a:latin typeface="Calibri"/>
              </a:defRPr>
            </a:pPr>
            <a:r>
              <a:t>2. wants_extra_baggage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1837"/>
                </a:solidFill>
                <a:latin typeface="Calibri"/>
              </a:defRPr>
            </a:pPr>
            <a:r>
              <a:t>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Solicitud de equipaje extra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40480"/>
            <a:ext cx="54864" cy="6400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1E41"/>
                </a:solidFill>
                <a:latin typeface="Calibri"/>
              </a:defRPr>
            </a:pPr>
            <a:r>
              <a:t>3. flight_duration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1837"/>
                </a:solidFill>
                <a:latin typeface="Calibri"/>
              </a:defRPr>
            </a:pPr>
            <a:r>
              <a:t>7.8%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Duracion del vuelo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663440"/>
            <a:ext cx="54864" cy="6400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1E41"/>
                </a:solidFill>
                <a:latin typeface="Calibri"/>
              </a:defRPr>
            </a:pPr>
            <a:r>
              <a:t>4. booking_origin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1837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Pais de origen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486400"/>
            <a:ext cx="54864" cy="6400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1E41"/>
                </a:solidFill>
                <a:latin typeface="Calibri"/>
              </a:defRPr>
            </a:pPr>
            <a:r>
              <a:t>5. wants_preferred_seat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86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31837"/>
                </a:solidFill>
                <a:latin typeface="Calibri"/>
              </a:defRPr>
            </a:pPr>
            <a:r>
              <a:t>5.1%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Asiento preferencial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01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96E"/>
                </a:solidFill>
                <a:latin typeface="Calibri"/>
              </a:defRPr>
            </a:pPr>
            <a:r>
              <a:t>Conclusiones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Desbalanceo de clases manejado con SMOTE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Random Forest obtuvo mejor rendimiento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purchase_lead es el factor mas determinante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Servicios adicionales aumentan conversion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029200" cy="2468880"/>
          </a:xfrm>
          <a:prstGeom prst="rect">
            <a:avLst/>
          </a:prstGeom>
          <a:solidFill>
            <a:srgbClr val="07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Recomendaciones de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63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Retargeting para clientes con &gt;30% probabilidad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Mejorar UX en canal mobile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Ofrecer incentivos (equipaje, asientos)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Alertas para reservas con largo purchase_lead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CRISP-ML Fase 6/6  |  Entregables: app.py, index.html, notebook, reporte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ENTREGABLES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96E"/>
                </a:solidFill>
                <a:latin typeface="Calibri"/>
              </a:defRPr>
            </a:pPr>
            <a:r>
              <a:t>Ciclo de Vida Completo del Machine Learning - CRISP-ML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200400" cy="16459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20040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6E"/>
                </a:solidFill>
                <a:latin typeface="Calibri"/>
              </a:defRPr>
            </a:pPr>
            <a:r>
              <a:t>etl_pipeline.py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Pipeline ETL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3200400" cy="16459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320040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6E"/>
                </a:solidFill>
                <a:latin typeface="Calibri"/>
              </a:defRPr>
            </a:pPr>
            <a:r>
              <a:t>customer_booking_analysis.ipynb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Notebook Predictivo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200400" cy="16459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20040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6E"/>
                </a:solidFill>
                <a:latin typeface="Calibri"/>
              </a:defRPr>
            </a:pPr>
            <a:r>
              <a:t>app.py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Dashboard Streamlit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06240"/>
            <a:ext cx="3200400" cy="16459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320040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6E"/>
                </a:solidFill>
                <a:latin typeface="Calibri"/>
              </a:defRPr>
            </a:pPr>
            <a:r>
              <a:t>index.html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206240"/>
            <a:ext cx="3200400" cy="16459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206240"/>
            <a:ext cx="320040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6E"/>
                </a:solidFill>
                <a:latin typeface="Calibri"/>
              </a:defRPr>
            </a:pPr>
            <a:r>
              <a:t>README.md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Documentacion + Badges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206240"/>
            <a:ext cx="3200400" cy="16459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206240"/>
            <a:ext cx="3200400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96E"/>
                </a:solidFill>
                <a:latin typeface="Calibri"/>
              </a:defRPr>
            </a:pPr>
            <a:r>
              <a:t>docs/reporte_integral.html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Reporte Integral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Desarrollado por: Feibert Guzman  |  British Airways Forage Data Science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A96E"/>
                </a:solidFill>
                <a:latin typeface="Calibri"/>
              </a:defRPr>
            </a:pPr>
            <a:r>
              <a:t>British Airways - Task 2: Predictive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CRISP-ML | ETL | EDA | Machine Learning |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